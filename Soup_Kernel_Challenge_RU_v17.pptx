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b83dbceb548cb" /><Relationship Type="http://schemas.openxmlformats.org/officeDocument/2006/relationships/extended-properties" Target="/docProps/app.xml" Id="R522c5b9f0f964427" /><Relationship Type="http://schemas.openxmlformats.org/officeDocument/2006/relationships/officeDocument" Target="/ppt/presentation.xml" Id="Rc60593a0ae204a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40ce948882493a"/>
  </p:sldMasterIdLst>
  <p:notesMasterIdLst>
    <p:notesMasterId xmlns:r="http://schemas.openxmlformats.org/officeDocument/2006/relationships" r:id="R7b19df8afcef48bb"/>
  </p:notesMasterIdLst>
  <p:sldIdLst>
    <p:sldId xmlns:r="http://schemas.openxmlformats.org/officeDocument/2006/relationships" id="256" r:id="R2ebbdf210b1d490f"/>
    <p:sldId xmlns:r="http://schemas.openxmlformats.org/officeDocument/2006/relationships" id="257" r:id="R67f8cd265e1449b3"/>
    <p:sldId xmlns:r="http://schemas.openxmlformats.org/officeDocument/2006/relationships" id="258" r:id="Re4afba95b4a74a08"/>
    <p:sldId xmlns:r="http://schemas.openxmlformats.org/officeDocument/2006/relationships" id="259" r:id="R998a48b7f698453d"/>
    <p:sldId xmlns:r="http://schemas.openxmlformats.org/officeDocument/2006/relationships" id="260" r:id="R2ad04da9b4ea4d14"/>
    <p:sldId xmlns:r="http://schemas.openxmlformats.org/officeDocument/2006/relationships" id="261" r:id="R7665c0f2b058420e"/>
    <p:sldId xmlns:r="http://schemas.openxmlformats.org/officeDocument/2006/relationships" id="262" r:id="R341a3fb0a8d14814"/>
    <p:sldId xmlns:r="http://schemas.openxmlformats.org/officeDocument/2006/relationships" id="263" r:id="R644d6059d7f34405"/>
    <p:sldId xmlns:r="http://schemas.openxmlformats.org/officeDocument/2006/relationships" id="264" r:id="Rc3cab840b18c403b"/>
    <p:sldId xmlns:r="http://schemas.openxmlformats.org/officeDocument/2006/relationships" id="265" r:id="Rca0337590b4f4a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2d95ecaac54d48" /><Relationship Type="http://schemas.openxmlformats.org/officeDocument/2006/relationships/slideMaster" Target="/ppt/slideMasters/slideMaster1.xml" Id="R1040ce948882493a" /><Relationship Type="http://schemas.openxmlformats.org/officeDocument/2006/relationships/notesMaster" Target="/ppt/notesMasters/notesMaster1.xml" Id="R7b19df8afcef48bb" /><Relationship Type="http://schemas.openxmlformats.org/officeDocument/2006/relationships/presProps" Target="/ppt/presProps.xml" Id="Rd22b64036a2b44bd" /><Relationship Type="http://schemas.openxmlformats.org/officeDocument/2006/relationships/tableStyles" Target="/ppt/tableStyles.xml" Id="R64b5fd20c00d478b" /><Relationship Type="http://schemas.openxmlformats.org/officeDocument/2006/relationships/slide" Target="/ppt/slides/slide1.xml" Id="R2ebbdf210b1d490f" /><Relationship Type="http://schemas.openxmlformats.org/officeDocument/2006/relationships/slide" Target="/ppt/slides/slide2.xml" Id="R67f8cd265e1449b3" /><Relationship Type="http://schemas.openxmlformats.org/officeDocument/2006/relationships/slide" Target="/ppt/slides/slide3.xml" Id="Re4afba95b4a74a08" /><Relationship Type="http://schemas.openxmlformats.org/officeDocument/2006/relationships/slide" Target="/ppt/slides/slide4.xml" Id="R998a48b7f698453d" /><Relationship Type="http://schemas.openxmlformats.org/officeDocument/2006/relationships/slide" Target="/ppt/slides/slide5.xml" Id="R2ad04da9b4ea4d14" /><Relationship Type="http://schemas.openxmlformats.org/officeDocument/2006/relationships/slide" Target="/ppt/slides/slide6.xml" Id="R7665c0f2b058420e" /><Relationship Type="http://schemas.openxmlformats.org/officeDocument/2006/relationships/slide" Target="/ppt/slides/slide7.xml" Id="R341a3fb0a8d14814" /><Relationship Type="http://schemas.openxmlformats.org/officeDocument/2006/relationships/slide" Target="/ppt/slides/slide8.xml" Id="R644d6059d7f34405" /><Relationship Type="http://schemas.openxmlformats.org/officeDocument/2006/relationships/slide" Target="/ppt/slides/slide9.xml" Id="Rc3cab840b18c403b" /><Relationship Type="http://schemas.openxmlformats.org/officeDocument/2006/relationships/slide" Target="/ppt/slides/slide10.xml" Id="Rca0337590b4f4a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19306fb5b64a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e9182bfbd4e3a" /><Relationship Type="http://schemas.openxmlformats.org/officeDocument/2006/relationships/notesMaster" Target="/ppt/notesMasters/notesMaster1.xml" Id="R0f7c1f661c8545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622de15cb44b0a" /><Relationship Type="http://schemas.openxmlformats.org/officeDocument/2006/relationships/notesMaster" Target="/ppt/notesMasters/notesMaster1.xml" Id="R6a53707349e942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6f8156fdda423a" /><Relationship Type="http://schemas.openxmlformats.org/officeDocument/2006/relationships/notesMaster" Target="/ppt/notesMasters/notesMaster1.xml" Id="Rb7b518a9b9c941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7c547add33499b" /><Relationship Type="http://schemas.openxmlformats.org/officeDocument/2006/relationships/notesMaster" Target="/ppt/notesMasters/notesMaster1.xml" Id="R0f9d1191be8a46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1c91b32080441c" /><Relationship Type="http://schemas.openxmlformats.org/officeDocument/2006/relationships/notesMaster" Target="/ppt/notesMasters/notesMaster1.xml" Id="Ra09bf85d945345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98816f97004cdf" /><Relationship Type="http://schemas.openxmlformats.org/officeDocument/2006/relationships/notesMaster" Target="/ppt/notesMasters/notesMaster1.xml" Id="R6d192a31487147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dd37d7395644d8" /><Relationship Type="http://schemas.openxmlformats.org/officeDocument/2006/relationships/notesMaster" Target="/ppt/notesMasters/notesMaster1.xml" Id="R8432d8865ef74a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7b6efc289e43c6" /><Relationship Type="http://schemas.openxmlformats.org/officeDocument/2006/relationships/notesMaster" Target="/ppt/notesMasters/notesMaster1.xml" Id="R622af3d691fe47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7410b5ca1e45ec" /><Relationship Type="http://schemas.openxmlformats.org/officeDocument/2006/relationships/notesMaster" Target="/ppt/notesMasters/notesMaster1.xml" Id="R1fb8e394f4a941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20011917124461" /><Relationship Type="http://schemas.openxmlformats.org/officeDocument/2006/relationships/notesMaster" Target="/ppt/notesMasters/notesMaster1.xml" Id="R802b13feda4b4d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оптимизировали фиксированное обучение QLoRA на одной бесплатной T4. Решение объединяет собственные Triton-кернелы и потоковую передачу весов и активаций из оперативной памяти. Код описан по архиву v17. Результаты решения взяты только из собственного приложенного лога: 47,63 с, 443 MiB, eval loss 2,04964. Базовые значения взяты только из строки base нового скриншота: 79,0 с, 14345 MiB, eval loss 2,04968. Пользователь уточнил, что нижняя строка solution на скриншоте принадлежит другому человеку, поэтому она полностью исключена из расчётов и выводов. Сравнение относится к разным запускам, а не к подтверждённому парному измерению. Соответствие архива конкретному измеренному коммиту отдельно не установлено.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/Users/aitzhanovdias/Downloads/Копия Decentrathon 6.0_ Soup Kernel Challenge.docx (разделы 4, 5, 10)</a:t>
            </a:r>
          </a:p>
          <a:p xmlns:a="http://schemas.openxmlformats.org/drawingml/2006/main">
            <a:r>
              <a:t>/Users/aitzhanovdias/Downloads/soup_solution_v17.zip → solution/, README.md</a:t>
            </a:r>
          </a:p>
          <a:p xmlns:a="http://schemas.openxmlformats.org/drawingml/2006/main">
            <a:r>
              <a:t>/Users/aitzhanovdias/Downloads/notebook724966b1eb 3.log (строки 43–74)</a:t>
            </a:r>
          </a:p>
          <a:p xmlns:a="http://schemas.openxmlformats.org/drawingml/2006/main">
            <a:r>
              <a:t>/var/folders/jx/rthxpth55fl_ytslpm6__tph0000gn/T/codex-clipboard-8a3d27fe-3ee9-4fc6-ac51-c4c9f535eb1c.png (только строка base)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 профилю из ТЗ около 44% времени шага занимают поэлементные операции и преобразования типов. Поэтому мы объединили нормализации, residual, LoRA-эпилоги и SwiGLU. Крупный словарь делает полный тензор логитов дорогим по памяти, поэтому LM head работает блоками. Матричные умножения остаются в cuBLAS. На графике только пять категорий, приведённых в ТЗ, их приблизительные доли суммарно дают 97%. Это профиль организаторов, не профиль нашего финального прогона. Обучение использует 256 казахских инструкций. Параметры LoRA относятся к q_proj и v_proj.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/Users/aitzhanovdias/Downloads/Копия Decentrathon 6.0_ Soup Kernel Challenge.docx (разделы 2, 5, 9)</a:t>
            </a:r>
          </a:p>
          <a:p xmlns:a="http://schemas.openxmlformats.org/drawingml/2006/main">
            <a:r>
              <a:t>/Users/aitzhanovdias/Downloads/soup_solution_v17.zip → solution/k_norm.py, k_mlp.py, k_head.py, fast_qwen.py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архитектурный выбор — хранить веса, embedding и сохранённые активации в pinned host memory. На GPU передаются только данные, нужные текущим слоям. Копирование следующего слоя и деквантизация идут в отдельных CUDA streams. Веса gate, up и down последовательно используют общую область, что сокращает её расчётный размер с 66 до 38 MB в v17. Состояния AdamW тоже уходят в RAM между шагами, сами шаги оптимизатора сохраняются. 3,76 GiB — объём зарегистрированных host-буферов в логе, не полная память процесса и не расход GPU.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/Users/aitzhanovdias/Downloads/soup_solution_v17.zip → solution/config.py, fast_qwen.py, k_nf4.py, k_head.py, optstate.py</a:t>
            </a:r>
          </a:p>
          <a:p xmlns:a="http://schemas.openxmlformats.org/drawingml/2006/main">
            <a:r>
              <a:t>/Users/aitzhanovdias/Downloads/notebook724966b1eb 3.log (строки 54–67)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активном пути девять собственных Triton-кернелов: один NF4, по два для RMSNorm, QKV-эпилога, SwiGLU и LM head. Для нормализации один program обрабатывает строку токена. В SwiGLU двумерная сетка адресует токен и блок промежуточных каналов, расчёт активации идёт в FP32, результат хранится в FP16. В backward тот же буфер gate/up перезаписывается градиентами. Маски LoRA dropout создаёт PyTorch native_dropout, а нормализация применяет их с исходным масштабом. Эти девять кернелов не включают библиотечные GEMM и attention. Сам факт наличия девяти кернелов не доказывает конкурсный порог 5% времени: он проверяется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/Users/aitzhanovdias/Downloads/soup_solution_v17.zip → solution/k_nf4.py, k_norm.py, k_rope.py, k_mlp.py, k_head.py, config.py</a:t>
            </a:r>
          </a:p>
          <a:p xmlns:a="http://schemas.openxmlformats.org/drawingml/2006/main">
            <a:r>
              <a:t>/Users/aitzhanovdias/Downloads/notebook724966b1eb 3.log (строка 56)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LM head проходит словарь из 151 936 токенов блоками по 1024 строки. cuBLAS считает локальные логиты и произведение для градиента. head_chunk_kernel на каждую строку поддерживает максимум и устойчивые суммы online softmax, argmax и логит целевого токена. При смене максимума он перемасштабирует накопления. head_finalize_kernel выдаёт loss, энтропию, accuracy, per-row статистики и градиент hidden state. Член целевого класса добавляется отдельно в FP32, чтобы уменьшить потерю точности при уверенном предсказании. Для максимума задачи N=2048 полный FP16-буфер занимает 2048×151936×2 / 2^20 = 593,5 MiB. Один блок занимает 2048×1024×2 / 2^20 = 4 MiB. В общий пик входят и другие буферы, поэтому эти числа не заменяют измерение nvidia-smi.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/Users/aitzhanovdias/Downloads/soup_solution_v17.zip → solution/k_head.py (head_chunk_kernel, head_finalize_kernel, streamed_head), solution/config.py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Изменение v17: CUBLAS_SMALL_WORKSPACE=False. Остальные файлы solution совпадают с v16. Возврат стандартного workspace позволяет cuBLAS выбирать более быстрые алгоритмы GEMM. В новом логе LM head на шагах 6 и 7 занимает 39,8 и 41,7 мс, ранее в v16 — 69,6 и 59,4 мс. Это сравнение отдельных шагов разных запусков, а не отдельный A/B-тест. Полное время по новому логу сократилось с 50,34 до 47,63 с (примерно на 5,4%), пик вырос с 407 до 443 MiB.</a:t>
            </a:r>
          </a:p>
          <a:p xmlns:a="http://schemas.openxmlformats.org/drawingml/2006/main">
            <a:r>
              <a:t>Источник: /Users/aitzhanovdias/Downloads/soup_solution_v17/solution/config.py, новый лог, прежний лог v16.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решения v17 берём из нового лога: полный soup train 47,63 с, пик GPU 443 MiB, eval loss 2,04964. Базу берём только из строки base ранее предоставленного скриншота: 79,0 с, 14345 MiB, eval loss 2,04968. Нижняя строка solution и коэффициенты того скриншота принадлежат другому участнику и полностью исключены. Расчёты: s = 79 / 47,63 = 1,6586185 (1,66×), m = 14345 / 443 = 32,3814898 (32,38×), Δloss = (2,04964 − 2,04968) / 2,04968 × 100% = −0,00195152% (−0,0020%). Это разные запуски, официальное сравнение требует парного измерения в одной сессии. Разницу loss не трактуем как улучшение качества. Коммит нового лога: 07370db1a183db834ec0b03e829a737e9f431332. В README цифры v17 ещё не заполнены, поэтому приоритет у нового лога.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/Users/aitzhanovdias/Downloads/notebook724966b1eb 3.log (строки 43–50)</a:t>
            </a:r>
          </a:p>
          <a:p xmlns:a="http://schemas.openxmlformats.org/drawingml/2006/main">
            <a:r>
              <a:t>/var/folders/jx/rthxpth55fl_ytslpm6__tph0000gn/T/codex-clipboard-8a3d27fe-3ee9-4fc6-ac51-c4c9f535eb1c.png (только строка base)</a:t>
            </a:r>
          </a:p>
          <a:p xmlns:a="http://schemas.openxmlformats.org/drawingml/2006/main">
            <a:r>
              <a:t>/Users/aitzhanovdias/Downloads/soup_solution_v17/solution/config.py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Приложенный собственный лог показывает 12 успешных тестов кернелов и успешную эмуляцию, а также отсутствие конфликтов в тестах расписания весов и хранилища активаций. Самопроверки LM head и varlen attention прошли, fast path установлен. Значение eval loss собственного решения 2,04964 практически совпадает с 2,04968 в строке base скриншота, разница составляет около −0,0020%. Из-за разных запусков эта разница не доказывает улучшение качества и не заменяет парную проверку. В собственном логе нет результатов всех 79 тестов Soup, полного check_rules, доли своих кернелов со шага 3, а также сравнения loss curve, entropy, accuracy и rewind. На первом шаге loss должен быть в пределах 1%, в среднем отклонение кривой — в пределах 3%. Все обязательные пункты допуска проверяются вместе. Нижняя строка solution на скриншоте исключена как чужой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/Users/aitzhanovdias/Downloads/notebook724966b1eb 3.log (строки 15–42 и 55–58)</a:t>
            </a:r>
          </a:p>
          <a:p xmlns:a="http://schemas.openxmlformats.org/drawingml/2006/main">
            <a:r>
              <a:t>/var/folders/jx/rthxpth55fl_ytslpm6__tph0000gn/T/codex-clipboard-8a3d27fe-3ee9-4fc6-ac51-c4c9f535eb1c.png (только строка base)</a:t>
            </a:r>
          </a:p>
          <a:p xmlns:a="http://schemas.openxmlformats.org/drawingml/2006/main">
            <a:r>
              <a:t>/Users/aitzhanovdias/Downloads/Копия Decentrathon 6.0_ Soup Kernel Challenge.docx (раздел 7)</a:t>
            </a:r>
          </a:p>
          <a:p xmlns:a="http://schemas.openxmlformats.org/drawingml/2006/main">
            <a:r>
              <a:t>/Users/aitzhanovdias/Downloads/soup_solution_v17.zip → harness/check_rules.py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GPU-память сокращается за счёт закреплённой оперативной памяти и передачи данных. В backward PCIe может стать ограничением. RESIDENT_LAYERS позволяет оставить часть весов на GPU ценой памяти, но это только направление экспериментов, не готовый выигрыш. Код ориентирован на конкретную задачу, а при провале валидации или self-test предусмотрен переход к resident placement или stock Soup. Самописный Triton attention по умолчанию выключен. Реконструкция residual назад выключена после численной ошибки около 6,9e-3 в ранее описанном self-test. В config включён ALLOC_EXPANDABLE, а README помечает согласование как незавершённое. При этом в приложенном harness/common.py уже задан тот же expandable_segments:True. Без исходного официального harness нельзя утверждать ни нарушение, ни окончательную допустимость: финальный запуск должен использовать скрипты и настройки организаторов без изменений.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/Users/aitzhanovdias/Downloads/soup_solution_v17.zip → solution/config.py, __init__.py, fast_qwen.py, harness/common.py, README.md (Limitations)</a:t>
            </a:r>
          </a:p>
          <a:p xmlns:a="http://schemas.openxmlformats.org/drawingml/2006/main">
            <a:r>
              <a:t>/Users/aitzhanovdias/Downloads/notebook724966b1eb 3.log (строка 62)</a:t>
            </a:r>
          </a:p>
          <a:p xmlns:a="http://schemas.openxmlformats.org/drawingml/2006/main">
            <a:r>
              <a:t>/Users/aitzhanovdias/Downloads/Копия Decentrathon 6.0_ Soup Kernel Challenge.docx (раздел 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Допуск даёт 20 баллов только при выполнении всех пяти обязательных пунктов. Среди допущенных команд скорость оценивается до 35 баллов, память до 30, README до 15. Баллы скорости и памяти зависят от лучшего результата команд через логарифмическую формулу, поэтому без итогов других участников собственный балл не вычисляется. Улучшение s или m меньше 1,05 считается шумом и не даёт баллов в этой категории. Для воспроизводимости нужно зафиксировать один commit, одинаковый в репозитории и сохранённом Kaggle notebook. Официальный порядок двух повторов — base, solution, solution, base. В README и SUBMISSION должны быть ссылки на notebook и commit, таблица результатов и ограничения. В присланных README и SUBMISSION эти ссылки и итоговые поля пока содержат незаполненные места. Демо до 3 минут и презентация — отдельные deliverables, не отдельные балльные категории.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/Users/aitzhanovdias/Downloads/Копия Decentrathon 6.0_ Soup Kernel Challenge.docx (разделы 7, 10, 11)</a:t>
            </a:r>
          </a:p>
          <a:p xmlns:a="http://schemas.openxmlformats.org/drawingml/2006/main">
            <a:r>
              <a:t>/Users/aitzhanovdias/Downloads/soup_solution_v17.zip → README.md, SUBMISSION.md, templates/kaggle_notebook.ipynb, harness/run_task.py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шаг — подтвердить воспроизводимость парным запуском на исходном harness с одинаковыми настройками для базы и решения. Нужны check_rules, 79 тестов Soup, доля собственных кернелов и сравнение кривой loss и выходных метрик. По текущим отдельным источникам собственный прогон занимает 47,63 секунды, использует 443 MiB и даёт eval loss 2,04964. Сопоставление с присланной строкой base даёт 1,66× по скорости и 32,38× по снижению пика GPU-памяти, но требует подтверждения в одной сессии. Строка solution на скриншоте принадлежит другому участнику и не используется. Дальнейшая оптимизация — кэш весов для backward, RESIDENT_LAYERS и MLP по блокам токенов. Это планы, не заявленные дополнительные результаты.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/Users/aitzhanovdias/Downloads/soup_solution_v17.zip → README.md (Next), solution/config.py</a:t>
            </a:r>
          </a:p>
          <a:p xmlns:a="http://schemas.openxmlformats.org/drawingml/2006/main">
            <a:r>
              <a:t>/Users/aitzhanovdias/Downloads/notebook724966b1eb 3.log (строки 45–50)</a:t>
            </a:r>
          </a:p>
          <a:p xmlns:a="http://schemas.openxmlformats.org/drawingml/2006/main">
            <a:r>
              <a:t>/var/folders/jx/rthxpth55fl_ytslpm6__tph0000gn/T/codex-clipboard-8a3d27fe-3ee9-4fc6-ac51-c4c9f535eb1c.png (только строка base)</a:t>
            </a:r>
          </a:p>
          <a:p xmlns:a="http://schemas.openxmlformats.org/drawingml/2006/main">
            <a:r>
              <a:t>/Users/aitzhanovdias/Downloads/Копия Decentrathon 6.0_ Soup Kernel Challenge.docx (разделы 7 и 11)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9f68cd5e243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3ff6978464a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fb212515c41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d611be86743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894b8df824f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10cf15ae447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12FD53-65FE-43CC-9850-2756F68FE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435FDC-6B70-4481-A8B4-8B431DCF21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0B270A-3679-425F-9D2E-F12C6E7F8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666FE7-9CD1-46D6-9EC8-789EAF4CAC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15E7A3-ACDF-4ED4-9CEF-2FFF88F02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B468A0-A107-4092-A545-F3055503E2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41C157-DAC0-4831-A154-EE4CE681FE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80966C-BE05-4086-B7E9-4D82FA2501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0E07F5-29A7-4B44-B469-49864DA87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B9020C-E943-4E1C-B4E5-25349FA82A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b5ffe2995c4ed2" /><Relationship Type="http://schemas.openxmlformats.org/officeDocument/2006/relationships/slideLayout" Target="/ppt/slideLayouts/slideLayout1.xml" Id="R4440e57f241b4418" /><Relationship Type="http://schemas.openxmlformats.org/officeDocument/2006/relationships/slideLayout" Target="/ppt/slideLayouts/slideLayout2.xml" Id="Rb574a604c6f24ea1" /><Relationship Type="http://schemas.openxmlformats.org/officeDocument/2006/relationships/slideLayout" Target="/ppt/slideLayouts/slideLayout3.xml" Id="R3c62ece0f06d4c44" /><Relationship Type="http://schemas.openxmlformats.org/officeDocument/2006/relationships/slideLayout" Target="/ppt/slideLayouts/slideLayout4.xml" Id="R1eb3ec9f751b4f51" /><Relationship Type="http://schemas.openxmlformats.org/officeDocument/2006/relationships/slideLayout" Target="/ppt/slideLayouts/slideLayout5.xml" Id="Rc9318c0f4e0f407b" /><Relationship Type="http://schemas.openxmlformats.org/officeDocument/2006/relationships/slideLayout" Target="/ppt/slideLayouts/slideLayout6.xml" Id="R94361b9555b947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40e57f241b4418"/>
    <p:sldLayoutId xmlns:r="http://schemas.openxmlformats.org/officeDocument/2006/relationships" id="2147483650" r:id="Rb574a604c6f24ea1"/>
    <p:sldLayoutId xmlns:r="http://schemas.openxmlformats.org/officeDocument/2006/relationships" id="2147483651" r:id="R3c62ece0f06d4c44"/>
    <p:sldLayoutId xmlns:r="http://schemas.openxmlformats.org/officeDocument/2006/relationships" id="2147483652" r:id="R1eb3ec9f751b4f51"/>
    <p:sldLayoutId xmlns:r="http://schemas.openxmlformats.org/officeDocument/2006/relationships" id="2147483653" r:id="Rc9318c0f4e0f407b"/>
    <p:sldLayoutId xmlns:r="http://schemas.openxmlformats.org/officeDocument/2006/relationships" id="2147483654" r:id="R94361b9555b947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5b1a5e2744df2" /><Relationship Type="http://schemas.openxmlformats.org/officeDocument/2006/relationships/notesSlide" Target="/ppt/notesSlides/notesSlide1.xml" Id="R5ba5650ce95342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4c238ff284afb" /><Relationship Type="http://schemas.openxmlformats.org/officeDocument/2006/relationships/chart" Target="/ppt/slides/charts/chart1.xml" Id="R27f16efab9e14022" /><Relationship Type="http://schemas.openxmlformats.org/officeDocument/2006/relationships/notesSlide" Target="/ppt/notesSlides/notesSlide2.xml" Id="R7c03a91aa48c46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6676a874f40cc" /><Relationship Type="http://schemas.openxmlformats.org/officeDocument/2006/relationships/notesSlide" Target="/ppt/notesSlides/notesSlide3.xml" Id="R67ba2abb328b47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bfd99cd734d8c" /><Relationship Type="http://schemas.openxmlformats.org/officeDocument/2006/relationships/notesSlide" Target="/ppt/notesSlides/notesSlide4.xml" Id="Rb2584c8f3cf347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40265deef4bb6" /><Relationship Type="http://schemas.openxmlformats.org/officeDocument/2006/relationships/notesSlide" Target="/ppt/notesSlides/notesSlide5.xml" Id="R73089800c02346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dccad7c0d49d8" /><Relationship Type="http://schemas.openxmlformats.org/officeDocument/2006/relationships/notesSlide" Target="/ppt/notesSlides/notesSlide6.xml" Id="R3d544164178048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4ebd79cd344f3" /><Relationship Type="http://schemas.openxmlformats.org/officeDocument/2006/relationships/notesSlide" Target="/ppt/notesSlides/notesSlide7.xml" Id="R608ad72a2fcc4a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2f9b99d0143dc" /><Relationship Type="http://schemas.openxmlformats.org/officeDocument/2006/relationships/notesSlide" Target="/ppt/notesSlides/notesSlide8.xml" Id="R1aba3b66fbd140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aab7413ec49ab" /><Relationship Type="http://schemas.openxmlformats.org/officeDocument/2006/relationships/notesSlide" Target="/ppt/notesSlides/notesSlide9.xml" Id="Rb90d778b5fe045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716fd41ab42cf" /><Relationship Type="http://schemas.openxmlformats.org/officeDocument/2006/relationships/notesSlide" Target="/ppt/notesSlides/notesSlide10.xml" Id="R5e681e1f2b03427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Доля времени</c:v>
          </c:tx>
          <c:spPr>
            <a:solidFill xmlns:a="http://schemas.openxmlformats.org/drawingml/2006/main">
              <a:srgbClr val="35664D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DDF62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Поэлементные и cast</c:v>
                </c:pt>
                <c:pt idx="1">
                  <c:v>Матричные умножения</c:v>
                </c:pt>
                <c:pt idx="2">
                  <c:v>Softmax словаря</c:v>
                </c:pt>
                <c:pt idx="3">
                  <c:v>Attention</c:v>
                </c:pt>
                <c:pt idx="4">
                  <c:v>Распаковка NF4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0.44</c:v>
                </c:pt>
                <c:pt idx="1">
                  <c:v>0.36</c:v>
                </c:pt>
                <c:pt idx="2">
                  <c:v>0.07</c:v>
                </c:pt>
                <c:pt idx="3">
                  <c:v>0.05</c:v>
                </c:pt>
                <c:pt idx="4">
                  <c:v>0.05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4202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1"/>
        <c:axPos val="b"/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97C78D-951A-4482-8D8D-83E826EC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DDF62"/>
                </a:solidFill>
                <a:latin typeface="Arial"/>
                <a:ea typeface="Arial"/>
                <a:cs typeface="Arial"/>
              </a:rPr>
              <a:t>DECENTRATHON 6.0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8FC0831D-D325-4609-8589-4333C69D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57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4F3EE"/>
                </a:solidFill>
                <a:latin typeface="Arial"/>
                <a:ea typeface="Arial"/>
                <a:cs typeface="Arial"/>
              </a:rPr>
              <a:t>Потоковое обучение</a:t>
            </a:r>
          </a:p>
          <a:p xmlns:a="http://schemas.openxmlformats.org/drawingml/2006/main">
            <a:pPr>
              <a:buNone/>
              <a:defRPr sz="57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4F3EE"/>
                </a:solidFill>
                <a:latin typeface="Arial"/>
                <a:ea typeface="Arial"/>
                <a:cs typeface="Arial"/>
              </a:rPr>
              <a:t>QLoRA на T4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BDB4E5-D531-48B3-ADC4-114F9993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Soup Kernel Challenge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2DAC44-C3F2-4945-9CF3-FA158D1D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C0"/>
                </a:solidFill>
                <a:latin typeface="Arial"/>
                <a:ea typeface="Arial"/>
                <a:cs typeface="Arial"/>
              </a:rPr>
              <a:t>Собственные Triton-кернелы и перенос весов</a:t>
            </a:r>
          </a:p>
          <a:p xmlns:a="http://schemas.openxmlformats.org/drawingml/2006/main">
            <a:pPr>
              <a:buNone/>
              <a:defRPr sz="210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C0"/>
                </a:solidFill>
                <a:latin typeface="Arial"/>
                <a:ea typeface="Arial"/>
                <a:cs typeface="Arial"/>
              </a:rPr>
              <a:t>и активаций в оперативную память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183D6A-9366-42B0-A9CD-29266A3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BBC6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C0"/>
                </a:solidFill>
                <a:latin typeface="Arial"/>
                <a:ea typeface="Arial"/>
                <a:cs typeface="Arial"/>
              </a:rPr>
              <a:t>Версия v17. Qwen2.5-1.5B-Instruct. NF4. LoRA r=16</a:t>
            </a:r>
          </a:p>
        </p:txBody>
      </p:sp>
    </p:spTree>
    <p:extLst>
      <p:ext uri="{BB962C8B-B14F-4D97-AF65-F5344CB8AC3E}">
        <p14:creationId xmlns:p14="http://schemas.microsoft.com/office/powerpoint/2010/main" val="996745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C106E7-BFD1-4F7E-A366-2CB82BF7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026"/>
                </a:solidFill>
                <a:latin typeface="Arial"/>
                <a:ea typeface="Arial"/>
                <a:cs typeface="Arial"/>
              </a:rPr>
              <a:t>Выбор операций для оптимизации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C8C4A8-5D7B-4636-845B-829DD8CB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AD9D25A-C3B8-429F-8D6E-3CFA193D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81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Профиль базового шага из задания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817E8DD-64F3-4C87-A2B1-BD92D4EA3D01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7334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f16efab9e14022"/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A9C565-75E3-4506-9902-49350A5B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97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Меньше обращений</a:t>
            </a:r>
          </a:p>
          <a:p xmlns:a="http://schemas.openxmlformats.org/drawingml/2006/main">
            <a:pPr>
              <a:buNone/>
              <a:defRPr sz="23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к GPU-памяти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FFE6C1-43B3-4E75-963B-9B46086C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95625"/>
            <a:ext cx="295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Объединяем короткие операции.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Обрабатываем словарь блоками.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Передаём веса по слоям.</a:t>
            </a:r>
          </a:p>
        </p:txBody>
      </p:sp>
      <p:sp>
        <p:nvSpPr>
          <p:cNvPr id="7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CBE699C1-EE48-4B61-8F64-3823CFA3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Фиксированная задача: Qwen2.5-1.5B, NF4, LoRA r=16 / α=32, batch 4, ≤512 токенов, 64 шага</a:t>
            </a:r>
          </a:p>
        </p:txBody>
      </p:sp>
    </p:spTree>
    <p:extLst>
      <p:ext uri="{BB962C8B-B14F-4D97-AF65-F5344CB8AC3E}">
        <p14:creationId xmlns:p14="http://schemas.microsoft.com/office/powerpoint/2010/main" val="1049245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38DD5F-DBBA-40F4-B4C1-70672515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026"/>
                </a:solidFill>
                <a:latin typeface="Arial"/>
                <a:ea typeface="Arial"/>
                <a:cs typeface="Arial"/>
              </a:rPr>
              <a:t>Потоковый шаг обучения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3E62F3-241F-4C2C-94B4-C970B99A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B6FB3FF-996D-4BA1-9CF1-7DC3FB67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solution.apply() подключает собственный forward / backward к Soup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76AE7-D6AB-4150-9D86-910BCE6CAC6B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3905250"/>
                <a:gridCol w="468630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Оперативная память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GPU во время вычисления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Веса NF4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Постранично закреплённые</a:t>
                      </a:r>
                    </a:p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буферы по слоям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Два слота и рабочая область</a:t>
                      </a:r>
                    </a:p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деквантизации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Embedding / LM head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FP16-таблица словаря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Два буфера по 1024 строки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Активации и checkpoints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Сохранение после forward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Возврат перед backward</a:t>
                      </a:r>
                    </a:p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нужного слоя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Состояния AdamW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Моменты между шагами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Загрузка на шаг оптимизатора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  <p:sp>
        <p:nvSpPr>
          <p:cNvPr id="5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52E7D63D-CFC0-4514-B44D-B6075A5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Копирование и деквантизация перекрываются с вычислениями. В логе: 3,76 GiB закреплённых RAM-буферов</a:t>
            </a:r>
          </a:p>
        </p:txBody>
      </p:sp>
    </p:spTree>
    <p:extLst>
      <p:ext uri="{BB962C8B-B14F-4D97-AF65-F5344CB8AC3E}">
        <p14:creationId xmlns:p14="http://schemas.microsoft.com/office/powerpoint/2010/main" val="2135008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BC4058-1CE4-4B74-AA76-8A4187D2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026"/>
                </a:solidFill>
                <a:latin typeface="Arial"/>
                <a:ea typeface="Arial"/>
                <a:cs typeface="Arial"/>
              </a:rPr>
              <a:t>Собственные Triton-кернелы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54A6EC-2179-49DF-A564-1D1B8B6E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A4BFF35-CDA9-4824-8AD5-328D5468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9 активных кернелов в стандартной конфигурации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D4E0D-BB2A-4417-B8D5-8491525FD303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095750"/>
                <a:gridCol w="401955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Операция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Как устроен кернел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Зачем объединять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NF4-деквантизация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1 кернел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Распаковка кодов и scale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в FP16-матрицы слоя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Меньше запусков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и временных буферов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RMSNorm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2 кернела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Residual, norm, casts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и применение LoRA dropout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Меньше проходов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по одним активациям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QKV-эпилог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2 кернела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LoRA-add, RoPE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и backward с GQA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Обработка в одном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буфере QKV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SwiGLU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2 кернела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SiLU(gate) × up,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backward на месте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Повторное использование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буфера gate / up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Потоковый LM head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2 кернела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Online softmax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и финализация метрик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Нет полного</a:t>
                      </a:r>
                    </a:p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тензора логитов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  <p:sp>
        <p:nvSpPr>
          <p:cNvPr id="5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CFD27030-0614-43A7-8154-F64A2E45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GEMM: cuBLAS. Attention: PyTorch varlen. Собственный Triton attention выключен</a:t>
            </a:r>
          </a:p>
        </p:txBody>
      </p:sp>
    </p:spTree>
    <p:extLst>
      <p:ext uri="{BB962C8B-B14F-4D97-AF65-F5344CB8AC3E}">
        <p14:creationId xmlns:p14="http://schemas.microsoft.com/office/powerpoint/2010/main" val="395409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84757D-2226-48AE-A84A-2A9FEDB8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3EE"/>
                </a:solidFill>
                <a:latin typeface="Arial"/>
                <a:ea typeface="Arial"/>
                <a:cs typeface="Arial"/>
              </a:rPr>
              <a:t>LM head без полного тензора логитов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8E40E5-D864-4A6C-A5FC-1083B932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BB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74C6B11-52B9-4D08-BE0F-F2B3C21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DDF62"/>
                </a:solidFill>
                <a:latin typeface="Arial"/>
                <a:ea typeface="Arial"/>
                <a:cs typeface="Arial"/>
              </a:rPr>
              <a:t>1. Блок словаря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82C960C-32C1-4606-B568-82492299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GEMM вычисляет логиты только</a:t>
            </a:r>
          </a:p>
          <a:p xmlns:a="http://schemas.openxmlformats.org/drawingml/2006/main">
            <a: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для 1024 строк embedding.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515401-45DF-42F2-94B1-898BA246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47825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DDF62"/>
                </a:solidFill>
                <a:latin typeface="Arial"/>
                <a:ea typeface="Arial"/>
                <a:cs typeface="Arial"/>
              </a:rPr>
              <a:t>2. Online softmax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0DCF14-9039-4364-BD4B-63C9CA5B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510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Кернел обновляет максимум,</a:t>
            </a:r>
          </a:p>
          <a:p xmlns:a="http://schemas.openxmlformats.org/drawingml/2006/main">
            <a: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суммы и FP32-градиент.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391517-492B-47E7-8028-BF142D30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DDF62"/>
                </a:solidFill>
                <a:latin typeface="Arial"/>
                <a:ea typeface="Arial"/>
                <a:cs typeface="Arial"/>
              </a:rPr>
              <a:t>3. Финализация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28F89E-8E9B-4635-9030-F8B0A891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Вычисляем loss, entropy, accuracy,</a:t>
            </a:r>
          </a:p>
          <a:p xmlns:a="http://schemas.openxmlformats.org/drawingml/2006/main">
            <a:pPr>
              <a:buNone/>
              <a:defRPr sz="18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per-row loss и d(hidden).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FEEEAD-303D-4546-BBC3-04D4B67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DF62"/>
                </a:solidFill>
                <a:latin typeface="Arial"/>
                <a:ea typeface="Arial"/>
                <a:cs typeface="Arial"/>
              </a:rPr>
              <a:t>593,5 MiB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922514-F46D-4617-9587-4B40BC96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полные FP16-логиты при 2048 токенах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426DB42-0E60-4C38-9BB7-83758167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43425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DF62"/>
                </a:solidFill>
                <a:latin typeface="Arial"/>
                <a:ea typeface="Arial"/>
                <a:cs typeface="Arial"/>
              </a:rPr>
              <a:t>4 MiB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8F8E8C7-5374-4BF6-A123-F0EDBF51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буфер FP16-логитов одного блока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E0F46D7-06A5-45C0-9B39-E251889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52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v17: стандартный workspace cuBLAS</a:t>
            </a:r>
          </a:p>
          <a:p xmlns:a="http://schemas.openxmlformats.org/drawingml/2006/main">
            <a:pPr>
              <a:buNone/>
              <a:defRPr sz="1800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Больше рабочей памяти для быстрых GEMM</a:t>
            </a:r>
          </a:p>
        </p:txBody>
      </p:sp>
      <p:sp>
        <p:nvSpPr>
          <p:cNvPr id="14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E7B440D5-CB7B-4538-90D0-28CF4AC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C0BB"/>
                </a:solidFill>
                <a:latin typeface="Arial"/>
                <a:ea typeface="Arial"/>
                <a:cs typeface="Arial"/>
              </a:rPr>
              <a:t>Расчёт только для буфера логитов: N × V × 2 байта. V = 151 936, блок = 1024. Это не полный пик GPU</a:t>
            </a:r>
          </a:p>
        </p:txBody>
      </p:sp>
    </p:spTree>
    <p:extLst>
      <p:ext uri="{BB962C8B-B14F-4D97-AF65-F5344CB8AC3E}">
        <p14:creationId xmlns:p14="http://schemas.microsoft.com/office/powerpoint/2010/main" val="432042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08E04-E257-4E1D-8217-449F811B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026"/>
                </a:solidFill>
                <a:latin typeface="Arial"/>
                <a:ea typeface="Arial"/>
                <a:cs typeface="Arial"/>
              </a:rPr>
              <a:t>Сравнение v17 с базовым Soup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FFA755-5B21-4DD6-B089-9BBC11A9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1804D-3FA6-4B3E-8D25-D52AD1CBB2D7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3619500"/>
                <a:gridCol w="40195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Метрика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База Soup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Решение v17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Полный soup train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79,0 с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5664D"/>
                          </a:solidFill>
                          <a:latin typeface="Arial"/>
                          <a:ea typeface="Arial"/>
                          <a:cs typeface="Arial"/>
                        </a:rPr>
                        <a:t>47,63 с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E5ECD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Пиковая память GPU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14 345 MiB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5664D"/>
                          </a:solidFill>
                          <a:latin typeface="Arial"/>
                          <a:ea typeface="Arial"/>
                          <a:cs typeface="Arial"/>
                        </a:rPr>
                        <a:t>443 MiB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E5ECD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Eval loss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2,04968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5664D"/>
                          </a:solidFill>
                          <a:latin typeface="Arial"/>
                          <a:ea typeface="Arial"/>
                          <a:cs typeface="Arial"/>
                        </a:rPr>
                        <a:t>2,04964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E5ECD6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F2E00B-4EF4-4AB5-A92F-1B511540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Ускорение 1,66×. Пик GPU-памяти ниже в 32,38×</a:t>
            </a:r>
          </a:p>
          <a:p xmlns:a="http://schemas.openxmlformats.org/drawingml/2006/main">
            <a:pPr>
              <a:buNone/>
              <a:defRPr sz="225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Eval loss практически совпадает: Δ = −0,0020%</a:t>
            </a:r>
          </a:p>
        </p:txBody>
      </p:sp>
      <p:sp>
        <p:nvSpPr>
          <p:cNvPr id="5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F61D0FE7-3CD2-4E52-AF8A-0E2C57EA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База: скриншот. Решение: лог. Разные запуски, коэффициенты требуют подтверждения парным замером</a:t>
            </a:r>
          </a:p>
        </p:txBody>
      </p:sp>
    </p:spTree>
    <p:extLst>
      <p:ext uri="{BB962C8B-B14F-4D97-AF65-F5344CB8AC3E}">
        <p14:creationId xmlns:p14="http://schemas.microsoft.com/office/powerpoint/2010/main" val="117056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AE40F9-B759-4B4A-AE92-3CDF7E0B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026"/>
                </a:solidFill>
                <a:latin typeface="Arial"/>
                <a:ea typeface="Arial"/>
                <a:cs typeface="Arial"/>
              </a:rPr>
              <a:t>Корректность и качество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761E9C-A85A-42D0-BFFF-114A664C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1B34CDA-29A5-4D19-B8BA-576C8DE7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Подтверждено приложенным логом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1A467-F523-4F12-90C7-23FA0DC7EEFB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714375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57575"/>
                <a:gridCol w="3686175"/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Unit-тесты кернелов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12 passed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Эмуляция вычислений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ALL EMULATED KERNEL CHECKS PASSED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копирования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0 конфликтов workspace и слотов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Порядок работы с активациями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0 неупорядоченных конфликтов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7030F2-BE5F-49DA-AA2A-AC57B0A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9250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25027"/>
                </a:solidFill>
                <a:latin typeface="Arial"/>
                <a:ea typeface="Arial"/>
                <a:cs typeface="Arial"/>
              </a:rPr>
              <a:t>Оставшиеся проверки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903FAA0-BFAF-40BF-A299-7A709806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2575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Кривая loss и метрики</a:t>
            </a:r>
          </a:p>
          <a:p xmlns:a="http://schemas.openxmlformats.org/drawingml/2006/main">
            <a: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Доля своих кернелов ≥5%</a:t>
            </a:r>
          </a:p>
          <a:p xmlns:a="http://schemas.openxmlformats.org/drawingml/2006/main">
            <a: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79 тестов Soup</a:t>
            </a:r>
          </a:p>
          <a:p xmlns:a="http://schemas.openxmlformats.org/drawingml/2006/main">
            <a:pPr>
              <a:buNone/>
              <a:defRPr sz="1950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и полный check_rules</a:t>
            </a:r>
          </a:p>
        </p:txBody>
      </p:sp>
      <p:sp>
        <p:nvSpPr>
          <p:cNvPr id="7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9E8E35DD-11F2-4696-9EA9-AC2B1A9B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Δ eval loss = −0,0020% по разным запускам. Допуск проверяет также кривую loss, метрики и rewind</a:t>
            </a:r>
          </a:p>
        </p:txBody>
      </p:sp>
    </p:spTree>
    <p:extLst>
      <p:ext uri="{BB962C8B-B14F-4D97-AF65-F5344CB8AC3E}">
        <p14:creationId xmlns:p14="http://schemas.microsoft.com/office/powerpoint/2010/main" val="1190942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F93936-FFF6-4B90-B0F2-19489FFA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026"/>
                </a:solidFill>
                <a:latin typeface="Arial"/>
                <a:ea typeface="Arial"/>
                <a:cs typeface="Arial"/>
              </a:rPr>
              <a:t>Ограничения решения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D8D4D1-F218-4FCB-8682-3BDE7D83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9C52A8-20BD-4722-8B01-3026FB5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Память переносится в RAM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108BA3-81B9-49CC-A2B6-9098A76E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В логе 3,76 GiB закреплённых буферов.</a:t>
            </a:r>
          </a:p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Это обмен GPU-памяти на память хоста.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0EAE84-A83B-4EA0-9930-A07E1592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478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Скорость зависит от PCIe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3CF53A-31E5-4738-BA2F-3D13D0A1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431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В backward веса и активации идут</a:t>
            </a:r>
          </a:p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в одном направлении и могут ждать шину.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3B530B-196B-4C4C-9C0D-6A4E66FA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Узкая конфигурация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EC64853-D7C2-4492-B88D-E93E129A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Qwen2, NF4, LoRA q/v, FP16, один GPU.</a:t>
            </a:r>
          </a:p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Для других настроек предусмотрен fallback.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A6DBD04-D903-48BF-97F2-DDEF77AD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575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Численная точность и правила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B9EED6E-4777-4E6A-A2D5-A46AA64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Реконструкция residual выключена.</a:t>
            </a:r>
          </a:p>
          <a:p xmlns:a="http://schemas.openxmlformats.org/drawingml/2006/main">
            <a:pPr>
              <a:buNone/>
              <a:defRPr sz="1875" b="0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026"/>
                </a:solidFill>
                <a:latin typeface="Arial"/>
                <a:ea typeface="Arial"/>
                <a:cs typeface="Arial"/>
              </a:rPr>
              <a:t>Режим аллокатора требует сверки с harness.</a:t>
            </a:r>
          </a:p>
        </p:txBody>
      </p:sp>
      <p:sp>
        <p:nvSpPr>
          <p:cNvPr id="11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BD0BB9A3-8DAF-4866-8C81-19D51DC0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ALLOC_EXPANDABLE=True в архиве. Итоговые цифры нужно подтвердить на исходных скриптах и настройках организаторов</a:t>
            </a:r>
          </a:p>
        </p:txBody>
      </p:sp>
    </p:spTree>
    <p:extLst>
      <p:ext uri="{BB962C8B-B14F-4D97-AF65-F5344CB8AC3E}">
        <p14:creationId xmlns:p14="http://schemas.microsoft.com/office/powerpoint/2010/main" val="1009130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14E2D0-9B8F-41D0-BBFB-44CA497E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0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026"/>
                </a:solidFill>
                <a:latin typeface="Arial"/>
                <a:ea typeface="Arial"/>
                <a:cs typeface="Arial"/>
              </a:rPr>
              <a:t>Воспроизводимость и критерии оценки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D81811-6038-476B-9774-7CFF6B5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D90E7-BA4F-4B09-85FB-77D1C4C937A1}"/>
              </a:ext>
            </a:extLst>
          </p:cNvPr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71825"/>
                <a:gridCol w="6467475"/>
                <a:gridCol w="1333500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Что фиксируем для сдачи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3EE"/>
                          </a:solidFill>
                          <a:latin typeface="Arial"/>
                          <a:ea typeface="Arial"/>
                          <a:cs typeface="Arial"/>
                        </a:rPr>
                        <a:t>Баллы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T w="6668">
                      <a:solidFill>
                        <a:srgbClr val="C7CEC5"/>
                      </a:solidFill>
                      <a:prstDash val="solid"/>
                    </a:lnT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14202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Работает и корректно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Все 5 обязательных пунктов допуска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Скорость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s = среднее время базы / решения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Память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m = средний пик базы / решения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README и воспроизводимость</a:t>
                      </a:r>
                    </a:p>
                  </a:txBody>
                  <a:tcPr marL="152400" marR="152400" marT="57150" marB="57150" anchor="ctr">
                    <a:lnL w="6668">
                      <a:solidFill>
                        <a:srgbClr val="C7CEC5"/>
                      </a:solidFill>
                      <a:prstDash val="solid"/>
                    </a:lnL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Метод, запуск, результаты и ограничения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02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52400" marR="152400" marT="57150" marB="57150" anchor="ctr">
                    <a:lnR w="6668">
                      <a:solidFill>
                        <a:srgbClr val="C7CEC5"/>
                      </a:solidFill>
                      <a:prstDash val="solid"/>
                    </a:lnR>
                    <a:lnB w="6668">
                      <a:solidFill>
                        <a:srgbClr val="C7CEC5"/>
                      </a:solidFill>
                      <a:prstDash val="solid"/>
                    </a:lnB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0867704-1A26-4109-9348-1B3D4657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Один commit в репозитории и Kaggle notebook.</a:t>
            </a:r>
          </a:p>
          <a:p xmlns:a="http://schemas.openxmlformats.org/drawingml/2006/main">
            <a:pPr>
              <a:buNone/>
              <a:defRPr sz="2100" b="1">
                <a:solidFill>
                  <a:srgbClr val="3566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64D"/>
                </a:solidFill>
                <a:latin typeface="Arial"/>
                <a:ea typeface="Arial"/>
                <a:cs typeface="Arial"/>
              </a:rPr>
              <a:t>Запуски: base, solution, solution, base. Затем check_rules</a:t>
            </a:r>
          </a:p>
        </p:txBody>
      </p:sp>
      <p:sp>
        <p:nvSpPr>
          <p:cNvPr id="5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86F4C073-877C-4FA7-A38E-BBFD3401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965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6A"/>
                </a:solidFill>
                <a:latin typeface="Arial"/>
                <a:ea typeface="Arial"/>
                <a:cs typeface="Arial"/>
              </a:rPr>
              <a:t>Компиляция входит в полное время. Пик GPU измеряет nvidia-smi каждые 0,1 с. Улучшение менее 5% не даёт баллов</a:t>
            </a:r>
          </a:p>
        </p:txBody>
      </p:sp>
    </p:spTree>
    <p:extLst>
      <p:ext uri="{BB962C8B-B14F-4D97-AF65-F5344CB8AC3E}">
        <p14:creationId xmlns:p14="http://schemas.microsoft.com/office/powerpoint/2010/main" val="11451672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2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B7E481-7A65-4DCB-8858-4242D3FC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3EE"/>
                </a:solidFill>
                <a:latin typeface="Arial"/>
                <a:ea typeface="Arial"/>
                <a:cs typeface="Arial"/>
              </a:rPr>
              <a:t>Следующие шаги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08DEA8-2341-4223-A318-305AB04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AEBBB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BB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F73A4A2-DCBD-4E0E-B2BC-E0CE375F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DDF62"/>
                </a:solidFill>
                <a:latin typeface="Arial"/>
                <a:ea typeface="Arial"/>
                <a:cs typeface="Arial"/>
              </a:rPr>
              <a:t>Подтверждение воспроизводимости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0D079A-1484-4603-804E-D765066B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Повторить парный замер на исходном harness.</a:t>
            </a:r>
          </a:p>
          <a:p xmlns:a="http://schemas.openxmlformats.org/drawingml/2006/main">
            <a: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Проверить долю кернелов, кривую loss и метрики.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2F4886-ECC6-40A5-9D97-3B371FD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BDDF6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DDF62"/>
                </a:solidFill>
                <a:latin typeface="Arial"/>
                <a:ea typeface="Arial"/>
                <a:cs typeface="Arial"/>
              </a:rPr>
              <a:t>Затем уменьшить нагрузку на PCIe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12E723F-9F86-4C8A-A039-804C405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Проверить кэш весов для backward и обработку MLP</a:t>
            </a:r>
          </a:p>
          <a:p xmlns:a="http://schemas.openxmlformats.org/drawingml/2006/main">
            <a:pPr>
              <a:buNone/>
              <a:defRPr sz="2175" b="0">
                <a:solidFill>
                  <a:srgbClr val="F4F3E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3EE"/>
                </a:solidFill>
                <a:latin typeface="Arial"/>
                <a:ea typeface="Arial"/>
                <a:cs typeface="Arial"/>
              </a:rPr>
              <a:t>по блокам токенов. Измерить обмен времени на GPU-память.</a:t>
            </a:r>
          </a:p>
        </p:txBody>
      </p:sp>
      <p:sp>
        <p:nvSpPr>
          <p:cNvPr id="7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681EC661-D320-4D48-9BB9-BA3FE9C1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B5C0B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C0BB"/>
                </a:solidFill>
                <a:latin typeface="Arial"/>
                <a:ea typeface="Arial"/>
                <a:cs typeface="Arial"/>
              </a:rPr>
              <a:t>v17: 47,63 с, 443 MiB, loss 2,04964. Сравнение с базой: 1,66× по скорости, 32,38× по памяти</a:t>
            </a:r>
          </a:p>
        </p:txBody>
      </p:sp>
    </p:spTree>
    <p:extLst>
      <p:ext uri="{BB962C8B-B14F-4D97-AF65-F5344CB8AC3E}">
        <p14:creationId xmlns:p14="http://schemas.microsoft.com/office/powerpoint/2010/main" val="19335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2026-10-31T18:27:21.7910000Z</dcterms:created>
  <dcterms:modified xsi:type="dcterms:W3CDTF">2026-10-31T18:27:21.7910000Z</dcterms:modified>
</coreProperties>
</file>